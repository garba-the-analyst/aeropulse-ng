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6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7C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8B97A3"/>
                </a:solidFill>
                <a:latin typeface="Aptos"/>
              </a:defRPr>
            </a:pPr>
            <a:r>
              <a:t>AeroPulse-NG  |  NDAIE 2026  |  Title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234440" cy="1234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48840" y="1234440"/>
            <a:ext cx="8961120" cy="6400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3800" b="1">
                <a:solidFill>
                  <a:srgbClr val="E8ECEF"/>
                </a:solidFill>
                <a:latin typeface="Aptos"/>
              </a:defRPr>
            </a:pPr>
            <a:r>
              <a:t>AeroPulse-NG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76272" y="1965960"/>
            <a:ext cx="8686800" cy="4114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2000" b="1">
                <a:solidFill>
                  <a:srgbClr val="C7CDD3"/>
                </a:solidFill>
                <a:latin typeface="Aptos"/>
              </a:defRPr>
            </a:pPr>
            <a:r>
              <a:t>Offline air surveillance for Nigerian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76272" y="2834640"/>
            <a:ext cx="8229600" cy="8229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600" b="0">
                <a:solidFill>
                  <a:srgbClr val="E8ECEF"/>
                </a:solidFill>
                <a:latin typeface="Aptos"/>
              </a:defRPr>
            </a:pPr>
            <a:r>
              <a:t>National Drone &amp; Aerospace Innovation Expo 2026</a:t>
            </a:r>
            <a:br/>
            <a:r>
              <a:t>National Innovation Pitch Challenge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6272" y="3977639"/>
            <a:ext cx="8229600" cy="3657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400" b="0">
                <a:solidFill>
                  <a:srgbClr val="8B97A3"/>
                </a:solidFill>
                <a:latin typeface="Aptos"/>
              </a:defRPr>
            </a:pPr>
            <a:r>
              <a:t>Primary category: Flight Planning &amp; Air Traffic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76272" y="4846320"/>
            <a:ext cx="8229600" cy="3657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300" b="0">
                <a:solidFill>
                  <a:srgbClr val="8B97A3"/>
                </a:solidFill>
                <a:latin typeface="Aptos"/>
              </a:defRPr>
            </a:pPr>
            <a:r>
              <a:t>Air-gapped  •  Offline-first  •  SI metric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6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861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8B97A3"/>
                </a:solidFill>
                <a:latin typeface="Aptos"/>
              </a:defRPr>
            </a:pPr>
            <a:r>
              <a:t>AeroPulse-NG  |  NDAIE 2026  | 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2800" b="1">
                <a:solidFill>
                  <a:srgbClr val="E8ECEF"/>
                </a:solidFill>
                <a:latin typeface="Aptos"/>
              </a:defRPr>
            </a:pPr>
            <a:r>
              <a:t>A surveillance gap remains below and between radar sites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37160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700" b="1">
                <a:solidFill>
                  <a:srgbClr val="D86161"/>
                </a:solidFill>
                <a:latin typeface="Aptos"/>
              </a:defRPr>
            </a:pPr>
            <a:r>
              <a:t>Cost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645920"/>
            <a:ext cx="886968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500" b="0">
                <a:solidFill>
                  <a:srgbClr val="E8ECEF"/>
                </a:solidFill>
                <a:latin typeface="Aptos"/>
              </a:defRPr>
            </a:pPr>
            <a:r>
              <a:t>Conventional primary and secondary radar installations require major capital and specialist maintenance.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137160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700" b="1">
                <a:solidFill>
                  <a:srgbClr val="D86161"/>
                </a:solidFill>
                <a:latin typeface="Aptos"/>
              </a:defRPr>
            </a:pPr>
            <a:r>
              <a:t>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2651760"/>
            <a:ext cx="886968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500" b="0">
                <a:solidFill>
                  <a:srgbClr val="E8ECEF"/>
                </a:solidFill>
                <a:latin typeface="Aptos"/>
              </a:defRPr>
            </a:pPr>
            <a:r>
              <a:t>Low-altitude corridors, secondary aerodromes and terrain-shadowed sectors remain difficult to monitor.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57600"/>
            <a:ext cx="137160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700" b="1">
                <a:solidFill>
                  <a:srgbClr val="D86161"/>
                </a:solidFill>
                <a:latin typeface="Aptos"/>
              </a:defRPr>
            </a:pPr>
            <a:r>
              <a:t>Resilience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3657600"/>
            <a:ext cx="886968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500" b="0">
                <a:solidFill>
                  <a:srgbClr val="E8ECEF"/>
                </a:solidFill>
                <a:latin typeface="Aptos"/>
              </a:defRPr>
            </a:pPr>
            <a:r>
              <a:t>Loss of connectivity or a radar head removes the traffic picture during periods of elevated risk.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663440"/>
            <a:ext cx="137160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700" b="1">
                <a:solidFill>
                  <a:srgbClr val="D86161"/>
                </a:solidFill>
                <a:latin typeface="Aptos"/>
              </a:defRPr>
            </a:pPr>
            <a:r>
              <a:t>Cooperation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4663440"/>
            <a:ext cx="886968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500" b="0">
                <a:solidFill>
                  <a:srgbClr val="E8ECEF"/>
                </a:solidFill>
                <a:latin typeface="Aptos"/>
              </a:defRPr>
            </a:pPr>
            <a:r>
              <a:t>Transponder-silent or unidentified aircraft are difficult to track with dependent surveillance alone.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6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7C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8B97A3"/>
                </a:solidFill>
                <a:latin typeface="Aptos"/>
              </a:defRPr>
            </a:pPr>
            <a:r>
              <a:t>AeroPulse-NG  |  NDAIE 2026  | 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2700" b="1">
                <a:solidFill>
                  <a:srgbClr val="E8ECEF"/>
                </a:solidFill>
                <a:latin typeface="Aptos"/>
              </a:defRPr>
            </a:pPr>
            <a:r>
              <a:t>A local surveillance workstation from affordable receiver hardware</a:t>
            </a:r>
          </a:p>
        </p:txBody>
      </p:sp>
      <p:pic>
        <p:nvPicPr>
          <p:cNvPr id="5" name="Picture 4" descr="radar-sc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583680" cy="42323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79" y="1600200"/>
            <a:ext cx="402336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800" b="1">
                <a:solidFill>
                  <a:srgbClr val="C7CDD3"/>
                </a:solidFill>
                <a:latin typeface="Aptos"/>
              </a:defRPr>
            </a:pPr>
            <a:r>
              <a:t>AeroPulse-NG combines: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2057400"/>
            <a:ext cx="3840480" cy="4114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300" b="0">
                <a:solidFill>
                  <a:srgbClr val="E8ECEF"/>
                </a:solidFill>
                <a:latin typeface="Aptos"/>
              </a:defRPr>
            </a:pPr>
            <a:r>
              <a:t>• 1090 MHz ADS-B and Mode S decoding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0" y="2624328"/>
            <a:ext cx="3840480" cy="4114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300" b="0">
                <a:solidFill>
                  <a:srgbClr val="E8ECEF"/>
                </a:solidFill>
                <a:latin typeface="Aptos"/>
              </a:defRPr>
            </a:pPr>
            <a:r>
              <a:t>• Filtered tracks with dead reckoning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3191256"/>
            <a:ext cx="3840480" cy="4114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300" b="0">
                <a:solidFill>
                  <a:srgbClr val="E8ECEF"/>
                </a:solidFill>
                <a:latin typeface="Aptos"/>
              </a:defRPr>
            </a:pPr>
            <a:r>
              <a:t>• Conflict alerting within a 120-second lookahead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3758184"/>
            <a:ext cx="3840480" cy="4114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300" b="0">
                <a:solidFill>
                  <a:srgbClr val="E8ECEF"/>
                </a:solidFill>
                <a:latin typeface="Aptos"/>
              </a:defRPr>
            </a:pPr>
            <a:r>
              <a:t>• Offline weather fusion for local conditions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4325112"/>
            <a:ext cx="3840480" cy="4114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300" b="0">
                <a:solidFill>
                  <a:srgbClr val="E8ECEF"/>
                </a:solidFill>
                <a:latin typeface="Aptos"/>
              </a:defRPr>
            </a:pPr>
            <a:r>
              <a:t>• A dual-display operator workspace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4892040"/>
            <a:ext cx="3840480" cy="4114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300" b="0">
                <a:solidFill>
                  <a:srgbClr val="E8ECEF"/>
                </a:solidFill>
                <a:latin typeface="Aptos"/>
              </a:defRPr>
            </a:pPr>
            <a:r>
              <a:t>• No cloud service required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6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7C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8B97A3"/>
                </a:solidFill>
                <a:latin typeface="Aptos"/>
              </a:defRPr>
            </a:pPr>
            <a:r>
              <a:t>AeroPulse-NG  |  NDAIE 2026  | 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2700" b="1">
                <a:solidFill>
                  <a:srgbClr val="E8ECEF"/>
                </a:solidFill>
                <a:latin typeface="Aptos"/>
              </a:defRPr>
            </a:pPr>
            <a:r>
              <a:t>One processing chain from signal to decision support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11155680" cy="643596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6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6C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8B97A3"/>
                </a:solidFill>
                <a:latin typeface="Aptos"/>
              </a:defRPr>
            </a:pPr>
            <a:r>
              <a:t>AeroPulse-NG  |  NDAIE 2026  | 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2700" b="1">
                <a:solidFill>
                  <a:srgbClr val="E8ECEF"/>
                </a:solidFill>
                <a:latin typeface="Aptos"/>
              </a:defRPr>
            </a:pPr>
            <a:r>
              <a:t>Engineering depth is measurable, not decorative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2697480" cy="4160520"/>
          </a:xfrm>
          <a:prstGeom prst="roundRect">
            <a:avLst/>
          </a:prstGeom>
          <a:solidFill>
            <a:srgbClr val="0D141E"/>
          </a:solidFill>
          <a:ln>
            <a:solidFill>
              <a:srgbClr val="8B97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1" y="1737360"/>
            <a:ext cx="233172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600" b="1">
                <a:solidFill>
                  <a:srgbClr val="C7CDD3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1" y="2331720"/>
            <a:ext cx="233172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200" b="0">
                <a:solidFill>
                  <a:srgbClr val="E8ECEF"/>
                </a:solidFill>
                <a:latin typeface="Aptos"/>
              </a:defRPr>
            </a:pPr>
            <a:r>
              <a:t>• DF17 CRC validation and repair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1" y="3081527"/>
            <a:ext cx="233172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200" b="0">
                <a:solidFill>
                  <a:srgbClr val="E8ECEF"/>
                </a:solidFill>
                <a:latin typeface="Aptos"/>
              </a:defRPr>
            </a:pPr>
            <a:r>
              <a:t>• CPR even/odd position resolution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" y="3831335"/>
            <a:ext cx="233172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200" b="0">
                <a:solidFill>
                  <a:srgbClr val="E8ECEF"/>
                </a:solidFill>
                <a:latin typeface="Aptos"/>
              </a:defRPr>
            </a:pPr>
            <a:r>
              <a:t>• ACARS message integrity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39" y="1508760"/>
            <a:ext cx="2697480" cy="4160520"/>
          </a:xfrm>
          <a:prstGeom prst="roundRect">
            <a:avLst/>
          </a:prstGeom>
          <a:solidFill>
            <a:srgbClr val="0D141E"/>
          </a:solidFill>
          <a:ln>
            <a:solidFill>
              <a:srgbClr val="8B97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5031" y="1737360"/>
            <a:ext cx="233172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600" b="1">
                <a:solidFill>
                  <a:srgbClr val="C7CDD3"/>
                </a:solidFill>
                <a:latin typeface="Aptos"/>
              </a:defRPr>
            </a:pPr>
            <a:r>
              <a:t>Track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5031" y="2331720"/>
            <a:ext cx="233172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200" b="0">
                <a:solidFill>
                  <a:srgbClr val="E8ECEF"/>
                </a:solidFill>
                <a:latin typeface="Aptos"/>
              </a:defRPr>
            </a:pPr>
            <a:r>
              <a:t>• 6-state Kalman filter (CV)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1" y="3081527"/>
            <a:ext cx="233172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200" b="0">
                <a:solidFill>
                  <a:srgbClr val="E8ECEF"/>
                </a:solidFill>
                <a:latin typeface="Aptos"/>
              </a:defRPr>
            </a:pPr>
            <a:r>
              <a:t>• R*-tree spatial indexing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1" y="3831335"/>
            <a:ext cx="233172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200" b="0">
                <a:solidFill>
                  <a:srgbClr val="E8ECEF"/>
                </a:solidFill>
                <a:latin typeface="Aptos"/>
              </a:defRPr>
            </a:pPr>
            <a:r>
              <a:t>• Dead-reckoning during dropouts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508760"/>
            <a:ext cx="2697480" cy="4160520"/>
          </a:xfrm>
          <a:prstGeom prst="roundRect">
            <a:avLst/>
          </a:prstGeom>
          <a:solidFill>
            <a:srgbClr val="0D141E"/>
          </a:solidFill>
          <a:ln>
            <a:solidFill>
              <a:srgbClr val="8B97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65392" y="1737360"/>
            <a:ext cx="233172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600" b="1">
                <a:solidFill>
                  <a:srgbClr val="C7CDD3"/>
                </a:solidFill>
                <a:latin typeface="Aptos"/>
              </a:defRPr>
            </a:pPr>
            <a:r>
              <a:t>Safety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5392" y="2331720"/>
            <a:ext cx="233172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200" b="0">
                <a:solidFill>
                  <a:srgbClr val="E8ECEF"/>
                </a:solidFill>
                <a:latin typeface="Aptos"/>
              </a:defRPr>
            </a:pPr>
            <a:r>
              <a:t>• 9.26 km / 305 m separation 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3081527"/>
            <a:ext cx="233172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200" b="0">
                <a:solidFill>
                  <a:srgbClr val="E8ECEF"/>
                </a:solidFill>
                <a:latin typeface="Aptos"/>
              </a:defRPr>
            </a:pPr>
            <a:r>
              <a:t>• 120-second lookahead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3831335"/>
            <a:ext cx="233172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200" b="0">
                <a:solidFill>
                  <a:srgbClr val="E8ECEF"/>
                </a:solidFill>
                <a:latin typeface="Aptos"/>
              </a:defRPr>
            </a:pPr>
            <a:r>
              <a:t>• Emergency and silence alerts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81160" y="1508760"/>
            <a:ext cx="2697480" cy="4160520"/>
          </a:xfrm>
          <a:prstGeom prst="roundRect">
            <a:avLst/>
          </a:prstGeom>
          <a:solidFill>
            <a:srgbClr val="0D141E"/>
          </a:solidFill>
          <a:ln>
            <a:solidFill>
              <a:srgbClr val="8B97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45752" y="1737360"/>
            <a:ext cx="233172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600" b="1">
                <a:solidFill>
                  <a:srgbClr val="C7CDD3"/>
                </a:solidFill>
                <a:latin typeface="Aptos"/>
              </a:defRPr>
            </a:pPr>
            <a:r>
              <a:t>Weather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45752" y="2331720"/>
            <a:ext cx="233172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200" b="0">
                <a:solidFill>
                  <a:srgbClr val="E8ECEF"/>
                </a:solidFill>
                <a:latin typeface="Aptos"/>
              </a:defRPr>
            </a:pPr>
            <a:r>
              <a:t>• AWOS + ACARS + BDS inputs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5752" y="3081527"/>
            <a:ext cx="233172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200" b="0">
                <a:solidFill>
                  <a:srgbClr val="E8ECEF"/>
                </a:solidFill>
                <a:latin typeface="Aptos"/>
              </a:defRPr>
            </a:pPr>
            <a:r>
              <a:t>• Vector wind interpolation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5752" y="3831335"/>
            <a:ext cx="233172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200" b="0">
                <a:solidFill>
                  <a:srgbClr val="E8ECEF"/>
                </a:solidFill>
                <a:latin typeface="Aptos"/>
              </a:defRPr>
            </a:pPr>
            <a:r>
              <a:t>• Standard-atmosphere fallback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897880"/>
            <a:ext cx="1069848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300" b="0">
                <a:solidFill>
                  <a:srgbClr val="8B97A3"/>
                </a:solidFill>
                <a:latin typeface="Aptos"/>
              </a:defRPr>
            </a:pPr>
            <a:r>
              <a:t>Prototype verification: 90 Rust tests  •  14 Python tests  •  strict TypeScript build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6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2A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8B97A3"/>
                </a:solidFill>
                <a:latin typeface="Aptos"/>
              </a:defRPr>
            </a:pPr>
            <a:r>
              <a:t>AeroPulse-NG  |  NDAIE 2026  | 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2700" b="1">
                <a:solidFill>
                  <a:srgbClr val="E8ECEF"/>
                </a:solidFill>
                <a:latin typeface="Aptos"/>
              </a:defRPr>
            </a:pPr>
            <a:r>
              <a:t>A scenario the judges can observe</a:t>
            </a:r>
          </a:p>
        </p:txBody>
      </p:sp>
      <p:pic>
        <p:nvPicPr>
          <p:cNvPr id="5" name="Picture 4" descr="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10972800" cy="29542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532120"/>
            <a:ext cx="10515600" cy="3657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400" b="0">
                <a:solidFill>
                  <a:srgbClr val="E8ECEF"/>
                </a:solidFill>
                <a:latin typeface="Aptos"/>
              </a:defRPr>
            </a:pPr>
            <a:r>
              <a:t>The simulator exercises the same event path used by the future receiver integration.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6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2A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8B97A3"/>
                </a:solidFill>
                <a:latin typeface="Aptos"/>
              </a:defRPr>
            </a:pPr>
            <a:r>
              <a:t>AeroPulse-NG  |  NDAIE 2026  |  Weather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2700" b="1">
                <a:solidFill>
                  <a:srgbClr val="E8ECEF"/>
                </a:solidFill>
                <a:latin typeface="Aptos"/>
              </a:defRPr>
            </a:pPr>
            <a:r>
              <a:t>Three local sources, one weather picture</a:t>
            </a:r>
          </a:p>
        </p:txBody>
      </p:sp>
      <p:pic>
        <p:nvPicPr>
          <p:cNvPr id="5" name="Picture 4" descr="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17320"/>
            <a:ext cx="10332720" cy="4821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5486400"/>
            <a:ext cx="10332720" cy="4114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400" b="0">
                <a:solidFill>
                  <a:srgbClr val="E8ECEF"/>
                </a:solidFill>
                <a:latin typeface="Aptos"/>
              </a:defRPr>
            </a:pPr>
            <a:r>
              <a:t>Surface observations take priority; sparse upper-air observations fall back to the standard atmosphere with an explicit confidence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6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7C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8B97A3"/>
                </a:solidFill>
                <a:latin typeface="Aptos"/>
              </a:defRPr>
            </a:pPr>
            <a:r>
              <a:t>AeroPulse-NG  |  NDAIE 2026  |  Standards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2700" b="1">
                <a:solidFill>
                  <a:srgbClr val="E8ECEF"/>
                </a:solidFill>
                <a:latin typeface="Aptos"/>
              </a:defRPr>
            </a:pPr>
            <a:r>
              <a:t>Standards and presentation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37160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500" b="1">
                <a:solidFill>
                  <a:srgbClr val="C7CDD3"/>
                </a:solidFill>
                <a:latin typeface="Aptos"/>
              </a:defRPr>
            </a:pPr>
            <a:r>
              <a:t>Units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1645920"/>
            <a:ext cx="393192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400" b="0">
                <a:solidFill>
                  <a:srgbClr val="E8ECEF"/>
                </a:solidFill>
                <a:latin typeface="Aptos"/>
              </a:defRPr>
            </a:pPr>
            <a:r>
              <a:t>NCAA / ICAO Annex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0" y="1645920"/>
            <a:ext cx="393192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400" b="0">
                <a:solidFill>
                  <a:srgbClr val="8B97A3"/>
                </a:solidFill>
                <a:latin typeface="Aptos"/>
              </a:defRPr>
            </a:pPr>
            <a:r>
              <a:t>km · m · km/h · hPa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04288"/>
            <a:ext cx="137160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500" b="1">
                <a:solidFill>
                  <a:srgbClr val="C7CDD3"/>
                </a:solidFill>
                <a:latin typeface="Aptos"/>
              </a:defRPr>
            </a:pPr>
            <a:r>
              <a:t>Surveillance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304288"/>
            <a:ext cx="393192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400" b="0">
                <a:solidFill>
                  <a:srgbClr val="E8ECEF"/>
                </a:solidFill>
                <a:latin typeface="Aptos"/>
              </a:defRPr>
            </a:pPr>
            <a:r>
              <a:t>DO-260B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2304288"/>
            <a:ext cx="393192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400" b="0">
                <a:solidFill>
                  <a:srgbClr val="8B97A3"/>
                </a:solidFill>
                <a:latin typeface="Aptos"/>
              </a:defRPr>
            </a:pPr>
            <a:r>
              <a:t>Mode S / ADS-B / CPR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62656"/>
            <a:ext cx="137160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500" b="1">
                <a:solidFill>
                  <a:srgbClr val="C7CDD3"/>
                </a:solidFill>
                <a:latin typeface="Aptos"/>
              </a:defRPr>
            </a:pPr>
            <a:r>
              <a:t>Separation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962656"/>
            <a:ext cx="393192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400" b="0">
                <a:solidFill>
                  <a:srgbClr val="E8ECEF"/>
                </a:solidFill>
                <a:latin typeface="Aptos"/>
              </a:defRPr>
            </a:pPr>
            <a:r>
              <a:t>ICAO Doc 4444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2962656"/>
            <a:ext cx="393192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400" b="0">
                <a:solidFill>
                  <a:srgbClr val="8B97A3"/>
                </a:solidFill>
                <a:latin typeface="Aptos"/>
              </a:defRPr>
            </a:pPr>
            <a:r>
              <a:t>9.26 km · 305 m · 120 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621024"/>
            <a:ext cx="137160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500" b="1">
                <a:solidFill>
                  <a:srgbClr val="C7CDD3"/>
                </a:solidFill>
                <a:latin typeface="Aptos"/>
              </a:defRPr>
            </a:pPr>
            <a:r>
              <a:t>Display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3621024"/>
            <a:ext cx="393192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400" b="0">
                <a:solidFill>
                  <a:srgbClr val="E8ECEF"/>
                </a:solidFill>
                <a:latin typeface="Aptos"/>
              </a:defRPr>
            </a:pPr>
            <a:r>
              <a:t>HF-STD-010A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621024"/>
            <a:ext cx="393192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400" b="0">
                <a:solidFill>
                  <a:srgbClr val="8B97A3"/>
                </a:solidFill>
                <a:latin typeface="Aptos"/>
              </a:defRPr>
            </a:pPr>
            <a:r>
              <a:t>Readable, consistent data blocks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279392"/>
            <a:ext cx="137160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500" b="1">
                <a:solidFill>
                  <a:srgbClr val="C7CDD3"/>
                </a:solidFill>
                <a:latin typeface="Aptos"/>
              </a:defRPr>
            </a:pPr>
            <a:r>
              <a:t>Symbology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279392"/>
            <a:ext cx="393192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400" b="0">
                <a:solidFill>
                  <a:srgbClr val="E8ECEF"/>
                </a:solidFill>
                <a:latin typeface="Aptos"/>
              </a:defRPr>
            </a:pPr>
            <a:r>
              <a:t>MIL-STD-2525D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4279392"/>
            <a:ext cx="393192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400" b="0">
                <a:solidFill>
                  <a:srgbClr val="8B97A3"/>
                </a:solidFill>
                <a:latin typeface="Aptos"/>
              </a:defRPr>
            </a:pPr>
            <a:r>
              <a:t>Consistent civil/military frames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937759"/>
            <a:ext cx="137160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500" b="1">
                <a:solidFill>
                  <a:srgbClr val="C7CDD3"/>
                </a:solidFill>
                <a:latin typeface="Aptos"/>
              </a:defRPr>
            </a:pPr>
            <a:r>
              <a:t>Integrity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4937759"/>
            <a:ext cx="393192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400" b="0">
                <a:solidFill>
                  <a:srgbClr val="E8ECEF"/>
                </a:solidFill>
                <a:latin typeface="Aptos"/>
              </a:defRPr>
            </a:pPr>
            <a:r>
              <a:t>NDAIE Rulebook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4937759"/>
            <a:ext cx="393192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400" b="0">
                <a:solidFill>
                  <a:srgbClr val="8B97A3"/>
                </a:solidFill>
                <a:latin typeface="Aptos"/>
              </a:defRPr>
            </a:pPr>
            <a:r>
              <a:t>AI assistance disclosed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6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7C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8B97A3"/>
                </a:solidFill>
                <a:latin typeface="Aptos"/>
              </a:defRPr>
            </a:pPr>
            <a:r>
              <a:t>AeroPulse-NG  |  NDAIE 2026  | 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2700" b="1">
                <a:solidFill>
                  <a:srgbClr val="E8ECEF"/>
                </a:solidFill>
                <a:latin typeface="Aptos"/>
              </a:defRPr>
            </a:pPr>
            <a:r>
              <a:t>A practical path to local capability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2560320" cy="6400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>
              <a:defRPr sz="3000" b="1">
                <a:solidFill>
                  <a:srgbClr val="C7CDD3"/>
                </a:solidFill>
                <a:latin typeface="Aptos"/>
              </a:defRPr>
            </a:pPr>
            <a:r>
              <a:t>&gt;99%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2194560" cy="9144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>
              <a:defRPr sz="1400" b="0">
                <a:solidFill>
                  <a:srgbClr val="E8ECEF"/>
                </a:solidFill>
                <a:latin typeface="Aptos"/>
              </a:defRPr>
            </a:pPr>
            <a:r>
              <a:t>potential capital reduction per station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645920"/>
            <a:ext cx="2560320" cy="6400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>
              <a:defRPr sz="3000" b="1">
                <a:solidFill>
                  <a:srgbClr val="C6CCD2"/>
                </a:solidFill>
                <a:latin typeface="Aptos"/>
              </a:defRPr>
            </a:pPr>
            <a:r>
              <a:t>24/7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40" y="2468880"/>
            <a:ext cx="2194560" cy="9144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>
              <a:defRPr sz="1400" b="0">
                <a:solidFill>
                  <a:srgbClr val="E8ECEF"/>
                </a:solidFill>
                <a:latin typeface="Aptos"/>
              </a:defRPr>
            </a:pPr>
            <a:r>
              <a:t>local decision support without cloud dependence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2560320" cy="6400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>
              <a:defRPr sz="3000" b="1">
                <a:solidFill>
                  <a:srgbClr val="C6CCD2"/>
                </a:solidFill>
                <a:latin typeface="Aptos"/>
              </a:defRPr>
            </a:pPr>
            <a:r>
              <a:t>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68880"/>
            <a:ext cx="2194560" cy="9144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>
              <a:defRPr sz="1400" b="0">
                <a:solidFill>
                  <a:srgbClr val="E8ECEF"/>
                </a:solidFill>
                <a:latin typeface="Aptos"/>
              </a:defRPr>
            </a:pPr>
            <a:r>
              <a:t>metric-first display for Nigerian operators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1645920"/>
            <a:ext cx="2560320" cy="6400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>
              <a:defRPr sz="3000" b="1">
                <a:solidFill>
                  <a:srgbClr val="D2A85A"/>
                </a:solidFill>
                <a:latin typeface="Aptos"/>
              </a:defRPr>
            </a:pPr>
            <a:r>
              <a:t>Local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19" y="2468880"/>
            <a:ext cx="2194560" cy="9144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>
              <a:defRPr sz="1400" b="0">
                <a:solidFill>
                  <a:srgbClr val="E8ECEF"/>
                </a:solidFill>
                <a:latin typeface="Aptos"/>
              </a:defRPr>
            </a:pPr>
            <a:r>
              <a:t>maintainable engineering and training platform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46320"/>
            <a:ext cx="10332720" cy="4572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800" b="0">
                <a:solidFill>
                  <a:srgbClr val="E8ECEF"/>
                </a:solidFill>
                <a:latin typeface="Aptos"/>
              </a:defRPr>
            </a:pPr>
            <a:r>
              <a:t>The prototype is designed for progressive validation: simulator → bench receivers → controlled field trial.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6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7C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8B97A3"/>
                </a:solidFill>
                <a:latin typeface="Aptos"/>
              </a:defRPr>
            </a:pPr>
            <a:r>
              <a:t>AeroPulse-NG  |  NDAIE 2026  | 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3000" b="1">
                <a:solidFill>
                  <a:srgbClr val="E8ECEF"/>
                </a:solidFill>
                <a:latin typeface="Aptos"/>
              </a:defRPr>
            </a:pPr>
            <a:r>
              <a:t>Ready for the next validation stage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57200" cy="4572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2400" b="1">
                <a:solidFill>
                  <a:srgbClr val="C7CDD3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828800"/>
            <a:ext cx="4572000" cy="4114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800" b="1">
                <a:solidFill>
                  <a:srgbClr val="E8ECEF"/>
                </a:solidFill>
                <a:latin typeface="Aptos"/>
              </a:defRPr>
            </a:pPr>
            <a:r>
              <a:t>Purchase the bench receiver kit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43200"/>
            <a:ext cx="457200" cy="4572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2400" b="1">
                <a:solidFill>
                  <a:srgbClr val="C7CDD3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743200"/>
            <a:ext cx="6400800" cy="4114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800" b="1">
                <a:solidFill>
                  <a:srgbClr val="E8ECEF"/>
                </a:solidFill>
                <a:latin typeface="Aptos"/>
              </a:defRPr>
            </a:pPr>
            <a:r>
              <a:t>Validate ADS-B, ACARS and receive-only VHF paths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657600"/>
            <a:ext cx="457200" cy="4572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2400" b="1">
                <a:solidFill>
                  <a:srgbClr val="C7CDD3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657600"/>
            <a:ext cx="8686800" cy="6400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800" b="1">
                <a:solidFill>
                  <a:srgbClr val="E8ECEF"/>
                </a:solidFill>
                <a:latin typeface="Aptos"/>
              </a:defRPr>
            </a:pPr>
            <a:r>
              <a:t>Complete controlled hardware and safety assessment before any transmission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9144000" cy="4114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700" b="0">
                <a:solidFill>
                  <a:srgbClr val="C7CDD3"/>
                </a:solidFill>
                <a:latin typeface="Aptos"/>
              </a:defRPr>
            </a:pPr>
            <a:r>
              <a:t>AeroPulse-NG  |  Nigerian airspace, locally supported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