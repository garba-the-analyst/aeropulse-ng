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7A3"/>
                </a:solidFill>
                <a:latin typeface="Aptos"/>
              </a:defRPr>
            </a:pPr>
            <a:r>
              <a:t>AeroPulse-NG  |  NDAIE 2026  |  Title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23444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48840" y="1234440"/>
            <a:ext cx="896112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800" b="1">
                <a:solidFill>
                  <a:srgbClr val="E8ECEF"/>
                </a:solidFill>
                <a:latin typeface="Aptos"/>
              </a:defRPr>
            </a:pPr>
            <a:r>
              <a:t>AeroPulse-NG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965960"/>
            <a:ext cx="86868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000" b="1">
                <a:solidFill>
                  <a:srgbClr val="C7CDD3"/>
                </a:solidFill>
                <a:latin typeface="Aptos"/>
              </a:defRPr>
            </a:pPr>
            <a:r>
              <a:t>Offline air surveillance for Nigerian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6272" y="2834640"/>
            <a:ext cx="822960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0">
                <a:solidFill>
                  <a:srgbClr val="E8ECEF"/>
                </a:solidFill>
                <a:latin typeface="Aptos"/>
              </a:defRPr>
            </a:pPr>
            <a:r>
              <a:t>National Drone &amp; Aerospace Innovation Expo 2026</a:t>
            </a:r>
            <a:br/>
            <a:r>
              <a:t>National Innovation Pitch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3977639"/>
            <a:ext cx="82296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8B97A3"/>
                </a:solidFill>
                <a:latin typeface="Aptos"/>
              </a:defRPr>
            </a:pPr>
            <a:r>
              <a:t>Primary category: Flight Planning &amp; Air Traffic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4846320"/>
            <a:ext cx="82296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8B97A3"/>
                </a:solidFill>
                <a:latin typeface="Aptos"/>
              </a:defRPr>
            </a:pPr>
            <a:r>
              <a:t>Air-gapped  •  Offline-first  •  SI metric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7A3"/>
                </a:solidFill>
                <a:latin typeface="Aptos"/>
              </a:defRPr>
            </a:pPr>
            <a:r>
              <a:t>AeroPulse-NG  |  NDAIE 2026  |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800" b="1">
                <a:solidFill>
                  <a:srgbClr val="E8ECEF"/>
                </a:solidFill>
                <a:latin typeface="Aptos"/>
              </a:defRPr>
            </a:pPr>
            <a:r>
              <a:t>A surveillance gap remains below and between radar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371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700" b="1">
                <a:solidFill>
                  <a:srgbClr val="D86161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45920"/>
            <a:ext cx="886968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E8ECEF"/>
                </a:solidFill>
                <a:latin typeface="Aptos"/>
              </a:defRPr>
            </a:pPr>
            <a:r>
              <a:t>Conventional primary and secondary radar installations require major capital and specialist maintenance.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371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700" b="1">
                <a:solidFill>
                  <a:srgbClr val="D86161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886968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E8ECEF"/>
                </a:solidFill>
                <a:latin typeface="Aptos"/>
              </a:defRPr>
            </a:pPr>
            <a:r>
              <a:t>Low-altitude corridors, secondary aerodromes and terrain-shadowed sectors remain difficult to monitor.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371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700" b="1">
                <a:solidFill>
                  <a:srgbClr val="D86161"/>
                </a:solidFill>
                <a:latin typeface="Aptos"/>
              </a:defRPr>
            </a:pPr>
            <a:r>
              <a:t>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657600"/>
            <a:ext cx="886968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E8ECEF"/>
                </a:solidFill>
                <a:latin typeface="Aptos"/>
              </a:defRPr>
            </a:pPr>
            <a:r>
              <a:t>Loss of connectivity or a radar head removes the traffic picture during periods of elevated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371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700" b="1">
                <a:solidFill>
                  <a:srgbClr val="D86161"/>
                </a:solidFill>
                <a:latin typeface="Aptos"/>
              </a:defRPr>
            </a:pPr>
            <a:r>
              <a:t>Cooperation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663440"/>
            <a:ext cx="886968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E8ECEF"/>
                </a:solidFill>
                <a:latin typeface="Aptos"/>
              </a:defRPr>
            </a:pPr>
            <a:r>
              <a:t>Transponder-silent or unidentified aircraft are difficult to track with dependent surveillance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7A3"/>
                </a:solidFill>
                <a:latin typeface="Aptos"/>
              </a:defRPr>
            </a:pPr>
            <a:r>
              <a:t>AeroPulse-NG  |  NDAIE 2026  |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E8ECEF"/>
                </a:solidFill>
                <a:latin typeface="Aptos"/>
              </a:defRPr>
            </a:pPr>
            <a:r>
              <a:t>A local surveillance workstation from affordable receiver hardware</a:t>
            </a:r>
          </a:p>
        </p:txBody>
      </p:sp>
      <p:pic>
        <p:nvPicPr>
          <p:cNvPr id="5" name="Picture 4" descr="radar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583680" cy="42323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600200"/>
            <a:ext cx="4023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>
                <a:solidFill>
                  <a:srgbClr val="C7CDD3"/>
                </a:solidFill>
                <a:latin typeface="Aptos"/>
              </a:defRPr>
            </a:pPr>
            <a:r>
              <a:t>AeroPulse-NG combines: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057400"/>
            <a:ext cx="38404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E8ECEF"/>
                </a:solidFill>
                <a:latin typeface="Aptos"/>
              </a:defRPr>
            </a:pPr>
            <a:r>
              <a:t>• 1090 MHz ADS-B and Mode S decoding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624328"/>
            <a:ext cx="38404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E8ECEF"/>
                </a:solidFill>
                <a:latin typeface="Aptos"/>
              </a:defRPr>
            </a:pPr>
            <a:r>
              <a:t>• Filtered tracks with dead reckoning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3191256"/>
            <a:ext cx="38404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E8ECEF"/>
                </a:solidFill>
                <a:latin typeface="Aptos"/>
              </a:defRPr>
            </a:pPr>
            <a:r>
              <a:t>• Conflict alerting within a 120-second lookahead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758184"/>
            <a:ext cx="38404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E8ECEF"/>
                </a:solidFill>
                <a:latin typeface="Aptos"/>
              </a:defRPr>
            </a:pPr>
            <a:r>
              <a:t>• Offline weather fusion for local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325112"/>
            <a:ext cx="38404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E8ECEF"/>
                </a:solidFill>
                <a:latin typeface="Aptos"/>
              </a:defRPr>
            </a:pPr>
            <a:r>
              <a:t>• A dual-display operator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892040"/>
            <a:ext cx="38404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E8ECEF"/>
                </a:solidFill>
                <a:latin typeface="Aptos"/>
              </a:defRPr>
            </a:pPr>
            <a:r>
              <a:t>• No cloud service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7A3"/>
                </a:solidFill>
                <a:latin typeface="Aptos"/>
              </a:defRPr>
            </a:pPr>
            <a:r>
              <a:t>AeroPulse-NG  |  NDAIE 2026  |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E8ECEF"/>
                </a:solidFill>
                <a:latin typeface="Aptos"/>
              </a:defRPr>
            </a:pPr>
            <a:r>
              <a:t>One processing chain from signal to decision support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64359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7A3"/>
                </a:solidFill>
                <a:latin typeface="Aptos"/>
              </a:defRPr>
            </a:pPr>
            <a:r>
              <a:t>AeroPulse-NG  |  NDAIE 2026  | 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E8ECEF"/>
                </a:solidFill>
                <a:latin typeface="Aptos"/>
              </a:defRPr>
            </a:pPr>
            <a:r>
              <a:t>Engineering depth is measurable, not decorative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697480" cy="4160520"/>
          </a:xfrm>
          <a:prstGeom prst="roundRect">
            <a:avLst/>
          </a:prstGeom>
          <a:solidFill>
            <a:srgbClr val="0D141E"/>
          </a:solidFill>
          <a:ln>
            <a:solidFill>
              <a:srgbClr val="8B9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737360"/>
            <a:ext cx="23317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C7CDD3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31720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DF17 CRC validation and repair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081527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CPR even/odd position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831335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ACARS message integrity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508760"/>
            <a:ext cx="2697480" cy="4160520"/>
          </a:xfrm>
          <a:prstGeom prst="roundRect">
            <a:avLst/>
          </a:prstGeom>
          <a:solidFill>
            <a:srgbClr val="0D141E"/>
          </a:solidFill>
          <a:ln>
            <a:solidFill>
              <a:srgbClr val="8B9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1" y="1737360"/>
            <a:ext cx="23317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C7CDD3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2331720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6-state Kalman filter (CV)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3081527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R*-tree spatial indexing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3831335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Dead-reckoning during dropouts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08760"/>
            <a:ext cx="2697480" cy="4160520"/>
          </a:xfrm>
          <a:prstGeom prst="roundRect">
            <a:avLst/>
          </a:prstGeom>
          <a:solidFill>
            <a:srgbClr val="0D141E"/>
          </a:solidFill>
          <a:ln>
            <a:solidFill>
              <a:srgbClr val="8B9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737360"/>
            <a:ext cx="23317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C7CDD3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331720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9.26 km / 305 m separation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081527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120-second lookahead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831335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Emergency and silence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508760"/>
            <a:ext cx="2697480" cy="4160520"/>
          </a:xfrm>
          <a:prstGeom prst="roundRect">
            <a:avLst/>
          </a:prstGeom>
          <a:solidFill>
            <a:srgbClr val="0D141E"/>
          </a:solidFill>
          <a:ln>
            <a:solidFill>
              <a:srgbClr val="8B9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1737360"/>
            <a:ext cx="23317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C7CDD3"/>
                </a:solidFill>
                <a:latin typeface="Aptos"/>
              </a:defRPr>
            </a:pPr>
            <a:r>
              <a:t>Weather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331720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AWOS + ACARS + BDS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081527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Vector wind interpolation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3831335"/>
            <a:ext cx="2331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E8ECEF"/>
                </a:solidFill>
                <a:latin typeface="Aptos"/>
              </a:defRPr>
            </a:pPr>
            <a:r>
              <a:t>• Standard-atmosphere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97880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8B97A3"/>
                </a:solidFill>
                <a:latin typeface="Aptos"/>
              </a:defRPr>
            </a:pPr>
            <a:r>
              <a:t>Prototype verification: 90 Rust tests  •  14 Python tests  •  strict TypeScript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2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7A3"/>
                </a:solidFill>
                <a:latin typeface="Aptos"/>
              </a:defRPr>
            </a:pPr>
            <a:r>
              <a:t>AeroPulse-NG  |  NDAIE 2026  | 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E8ECEF"/>
                </a:solidFill>
                <a:latin typeface="Aptos"/>
              </a:defRPr>
            </a:pPr>
            <a:r>
              <a:t>A scenario the judges can observe</a:t>
            </a:r>
          </a:p>
        </p:txBody>
      </p:sp>
      <p:pic>
        <p:nvPicPr>
          <p:cNvPr id="5" name="Picture 4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72800" cy="29542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E8ECEF"/>
                </a:solidFill>
                <a:latin typeface="Aptos"/>
              </a:defRPr>
            </a:pPr>
            <a:r>
              <a:t>The simulator exercises the same event path used by the future receiver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2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7A3"/>
                </a:solidFill>
                <a:latin typeface="Aptos"/>
              </a:defRPr>
            </a:pPr>
            <a:r>
              <a:t>AeroPulse-NG  |  NDAIE 2026  |  Weather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E8ECEF"/>
                </a:solidFill>
                <a:latin typeface="Aptos"/>
              </a:defRPr>
            </a:pPr>
            <a:r>
              <a:t>Three local sources, one weather picture</a:t>
            </a:r>
          </a:p>
        </p:txBody>
      </p:sp>
      <p:pic>
        <p:nvPicPr>
          <p:cNvPr id="5" name="Picture 4" descr="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48219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E8ECEF"/>
                </a:solidFill>
                <a:latin typeface="Aptos"/>
              </a:defRPr>
            </a:pPr>
            <a:r>
              <a:t>Surface observations take priority; sparse upper-air observations fall back to the standard atmosphere with an explicit confidence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7A3"/>
                </a:solidFill>
                <a:latin typeface="Aptos"/>
              </a:defRPr>
            </a:pPr>
            <a:r>
              <a:t>AeroPulse-NG  |  NDAIE 2026  | 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E8ECEF"/>
                </a:solidFill>
                <a:latin typeface="Aptos"/>
              </a:defRPr>
            </a:pPr>
            <a:r>
              <a:t>Standards and presentation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371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C7CDD3"/>
                </a:solidFill>
                <a:latin typeface="Aptos"/>
              </a:defRPr>
            </a:pPr>
            <a:r>
              <a:t>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45920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E8ECEF"/>
                </a:solidFill>
                <a:latin typeface="Aptos"/>
              </a:defRPr>
            </a:pPr>
            <a:r>
              <a:t>NCAA / ICAO Annex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645920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8B97A3"/>
                </a:solidFill>
                <a:latin typeface="Aptos"/>
              </a:defRPr>
            </a:pPr>
            <a:r>
              <a:t>km · m · km/h · hPa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371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C7CDD3"/>
                </a:solidFill>
                <a:latin typeface="Aptos"/>
              </a:defRPr>
            </a:pPr>
            <a:r>
              <a:t>Surveillance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04288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E8ECEF"/>
                </a:solidFill>
                <a:latin typeface="Aptos"/>
              </a:defRPr>
            </a:pPr>
            <a:r>
              <a:t>DO-260B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304288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8B97A3"/>
                </a:solidFill>
                <a:latin typeface="Aptos"/>
              </a:defRPr>
            </a:pPr>
            <a:r>
              <a:t>Mode S / ADS-B / CPR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62656"/>
            <a:ext cx="1371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C7CDD3"/>
                </a:solidFill>
                <a:latin typeface="Aptos"/>
              </a:defRPr>
            </a:pPr>
            <a:r>
              <a:t>Separation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62656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E8ECEF"/>
                </a:solidFill>
                <a:latin typeface="Aptos"/>
              </a:defRPr>
            </a:pPr>
            <a:r>
              <a:t>ICAO Doc 4444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962656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8B97A3"/>
                </a:solidFill>
                <a:latin typeface="Aptos"/>
              </a:defRPr>
            </a:pPr>
            <a:r>
              <a:t>9.26 km · 305 m · 120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21024"/>
            <a:ext cx="1371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C7CDD3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21024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E8ECEF"/>
                </a:solidFill>
                <a:latin typeface="Aptos"/>
              </a:defRPr>
            </a:pPr>
            <a:r>
              <a:t>HF-STD-010A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621024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8B97A3"/>
                </a:solidFill>
                <a:latin typeface="Aptos"/>
              </a:defRPr>
            </a:pPr>
            <a:r>
              <a:t>Readable, consistent data blocks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79392"/>
            <a:ext cx="1371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C7CDD3"/>
                </a:solidFill>
                <a:latin typeface="Aptos"/>
              </a:defRPr>
            </a:pPr>
            <a:r>
              <a:t>Symbology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279392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E8ECEF"/>
                </a:solidFill>
                <a:latin typeface="Aptos"/>
              </a:defRPr>
            </a:pPr>
            <a:r>
              <a:t>MIL-STD-2525D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79392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8B97A3"/>
                </a:solidFill>
                <a:latin typeface="Aptos"/>
              </a:defRPr>
            </a:pPr>
            <a:r>
              <a:t>Consistent civil/military frames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59"/>
            <a:ext cx="1371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C7CDD3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937759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E8ECEF"/>
                </a:solidFill>
                <a:latin typeface="Aptos"/>
              </a:defRPr>
            </a:pPr>
            <a:r>
              <a:t>NDAIE Rulebook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937759"/>
            <a:ext cx="3931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0">
                <a:solidFill>
                  <a:srgbClr val="8B97A3"/>
                </a:solidFill>
                <a:latin typeface="Aptos"/>
              </a:defRPr>
            </a:pPr>
            <a:r>
              <a:t>AI assistance disclosed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7A3"/>
                </a:solidFill>
                <a:latin typeface="Aptos"/>
              </a:defRPr>
            </a:pPr>
            <a:r>
              <a:t>AeroPulse-NG  |  NDAIE 2026  | 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E8ECEF"/>
                </a:solidFill>
                <a:latin typeface="Aptos"/>
              </a:defRPr>
            </a:pPr>
            <a:r>
              <a:t>A practical path to local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56032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C7CDD3"/>
                </a:solidFill>
                <a:latin typeface="Aptos"/>
              </a:defRPr>
            </a:pPr>
            <a:r>
              <a:t>&gt;99%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9456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400" b="0">
                <a:solidFill>
                  <a:srgbClr val="E8ECEF"/>
                </a:solidFill>
                <a:latin typeface="Aptos"/>
              </a:defRPr>
            </a:pPr>
            <a:r>
              <a:t>potential capital reduction per 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56032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C6CCD2"/>
                </a:solidFill>
                <a:latin typeface="Aptos"/>
              </a:defRPr>
            </a:pPr>
            <a:r>
              <a:t>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468880"/>
            <a:ext cx="219456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400" b="0">
                <a:solidFill>
                  <a:srgbClr val="E8ECEF"/>
                </a:solidFill>
                <a:latin typeface="Aptos"/>
              </a:defRPr>
            </a:pPr>
            <a:r>
              <a:t>local decision support without cloud dependence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256032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C6CCD2"/>
                </a:solidFill>
                <a:latin typeface="Aptos"/>
              </a:defRPr>
            </a:pPr>
            <a:r>
              <a:t>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219456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400" b="0">
                <a:solidFill>
                  <a:srgbClr val="E8ECEF"/>
                </a:solidFill>
                <a:latin typeface="Aptos"/>
              </a:defRPr>
            </a:pPr>
            <a:r>
              <a:t>metric-first display for Nigerian 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645920"/>
            <a:ext cx="256032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D2A85A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2468880"/>
            <a:ext cx="219456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400" b="0">
                <a:solidFill>
                  <a:srgbClr val="E8ECEF"/>
                </a:solidFill>
                <a:latin typeface="Aptos"/>
              </a:defRPr>
            </a:pPr>
            <a:r>
              <a:t>maintainable engineering and training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E8ECEF"/>
                </a:solidFill>
                <a:latin typeface="Aptos"/>
              </a:defRPr>
            </a:pPr>
            <a:r>
              <a:t>The prototype is designed for progressive validation: simulator → bench receivers → controlled field trial.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7A3"/>
                </a:solidFill>
                <a:latin typeface="Aptos"/>
              </a:defRPr>
            </a:pPr>
            <a:r>
              <a:t>AeroPulse-NG  |  NDAIE 2026  | 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E8ECEF"/>
                </a:solidFill>
                <a:latin typeface="Aptos"/>
              </a:defRPr>
            </a:pPr>
            <a:r>
              <a:t>Ready for the next validation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C7CDD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45720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>
                <a:solidFill>
                  <a:srgbClr val="E8ECEF"/>
                </a:solidFill>
                <a:latin typeface="Aptos"/>
              </a:defRPr>
            </a:pPr>
            <a:r>
              <a:t>Purchase the bench receiver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5720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C7CDD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43200"/>
            <a:ext cx="64008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>
                <a:solidFill>
                  <a:srgbClr val="E8ECEF"/>
                </a:solidFill>
                <a:latin typeface="Aptos"/>
              </a:defRPr>
            </a:pPr>
            <a:r>
              <a:t>Validate ADS-B, ACARS and receive-only VHF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45720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>
                <a:solidFill>
                  <a:srgbClr val="C7CDD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657600"/>
            <a:ext cx="868680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>
                <a:solidFill>
                  <a:srgbClr val="E8ECEF"/>
                </a:solidFill>
                <a:latin typeface="Aptos"/>
              </a:defRPr>
            </a:pPr>
            <a:r>
              <a:t>Complete controlled hardware and safety assessment before any transmission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91440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700" b="0">
                <a:solidFill>
                  <a:srgbClr val="C7CDD3"/>
                </a:solidFill>
                <a:latin typeface="Aptos"/>
              </a:defRPr>
            </a:pPr>
            <a:r>
              <a:t>AeroPulse-NG  |  Nigerian airspace, locally supported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